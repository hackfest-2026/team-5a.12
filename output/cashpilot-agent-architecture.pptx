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97be101892e427a" /><Relationship Type="http://schemas.openxmlformats.org/officeDocument/2006/relationships/extended-properties" Target="/docProps/app.xml" Id="R67882e5742204873" /><Relationship Type="http://schemas.openxmlformats.org/officeDocument/2006/relationships/officeDocument" Target="/ppt/presentation.xml" Id="Rd3d933988487481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713c07a9b4f49a4"/>
  </p:sldMasterIdLst>
  <p:notesMasterIdLst>
    <p:notesMasterId xmlns:r="http://schemas.openxmlformats.org/officeDocument/2006/relationships" r:id="Ra9b591ea04b4448a"/>
  </p:notesMasterIdLst>
  <p:sldIdLst>
    <p:sldId xmlns:r="http://schemas.openxmlformats.org/officeDocument/2006/relationships" id="256" r:id="Rba256858115c446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56c962be4b44a03" /><Relationship Type="http://schemas.openxmlformats.org/officeDocument/2006/relationships/slideMaster" Target="/ppt/slideMasters/slideMaster1.xml" Id="R0713c07a9b4f49a4" /><Relationship Type="http://schemas.openxmlformats.org/officeDocument/2006/relationships/notesMaster" Target="/ppt/notesMasters/notesMaster1.xml" Id="Ra9b591ea04b4448a" /><Relationship Type="http://schemas.openxmlformats.org/officeDocument/2006/relationships/presProps" Target="/ppt/presProps.xml" Id="Rd80659db0df64e88" /><Relationship Type="http://schemas.openxmlformats.org/officeDocument/2006/relationships/tableStyles" Target="/ppt/tableStyles.xml" Id="Re1f86c70273c4130" /><Relationship Type="http://schemas.openxmlformats.org/officeDocument/2006/relationships/slide" Target="/ppt/slides/slide1.xml" Id="Rba256858115c446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c59f0af6f40435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92311845ede427f" /><Relationship Type="http://schemas.openxmlformats.org/officeDocument/2006/relationships/notesMaster" Target="/ppt/notesMasters/notesMaster1.xml" Id="R9376fcbf6ac14e5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Current implementation source:</a:t>
            </a:r>
          </a:p>
          <a:p xmlns:a="http://schemas.openxmlformats.org/drawingml/2006/main">
            <a:r>
              <a:t>apps/api/src/agent/runtime.ts</a:t>
            </a:r>
          </a:p>
          <a:p xmlns:a="http://schemas.openxmlformats.org/drawingml/2006/main">
            <a:r>
              <a:t>apps/api/src/agent/catalog.ts</a:t>
            </a:r>
          </a:p>
          <a:p xmlns:a="http://schemas.openxmlformats.org/drawingml/2006/main">
            <a:r>
              <a:t>apps/api/src/domain/finance-service.ts</a:t>
            </a:r>
          </a:p>
          <a:p xmlns:a="http://schemas.openxmlformats.org/drawingml/2006/main">
            <a:r>
              <a:t>apps/web/src/components/agent-panel.tsx</a:t>
            </a:r>
          </a:p>
          <a:p xmlns:a="http://schemas.openxmlformats.org/drawingml/2006/main">
            <a:r>
              <a:t>db/migrations/001_agent_runtime.sql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32bce749c334370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84d66f8d79e492a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db790ecc0ee40df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6490df3db384580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4aa7bc50f22446d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1ec3f5c0a48490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62EBA9C-E694-4A61-AF35-24B5E5F6757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FF921A0B-EF16-4B35-8E78-7B8F135BFDD7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4CF5C5DC-4178-4262-BB57-DF77BEFA766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BE4C8EA-2B7D-417A-9691-22B30C994F2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F27D8FE7-A3C4-4E3B-AED1-D2B3CC1BFA7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CBBEFDC4-10A7-44AD-885F-ADABA6DDBA0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E0C7BE61-83DF-4049-BFBB-91BA31535C9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9546A487-4592-4319-BAF2-8881EE8CA2BF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A3C8579-5C3E-4588-9C2B-15E3075698F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AE3BD0CD-C642-49B6-8F8B-3B509CACF5D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97a729f37a040a1" /><Relationship Type="http://schemas.openxmlformats.org/officeDocument/2006/relationships/slideLayout" Target="/ppt/slideLayouts/slideLayout1.xml" Id="R8a5fa7376469472d" /><Relationship Type="http://schemas.openxmlformats.org/officeDocument/2006/relationships/slideLayout" Target="/ppt/slideLayouts/slideLayout2.xml" Id="R973db7f6510745ca" /><Relationship Type="http://schemas.openxmlformats.org/officeDocument/2006/relationships/slideLayout" Target="/ppt/slideLayouts/slideLayout3.xml" Id="Rc2a968a3bce94111" /><Relationship Type="http://schemas.openxmlformats.org/officeDocument/2006/relationships/slideLayout" Target="/ppt/slideLayouts/slideLayout4.xml" Id="R9724681809124d67" /><Relationship Type="http://schemas.openxmlformats.org/officeDocument/2006/relationships/slideLayout" Target="/ppt/slideLayouts/slideLayout5.xml" Id="R24ae40d6b56145de" /><Relationship Type="http://schemas.openxmlformats.org/officeDocument/2006/relationships/slideLayout" Target="/ppt/slideLayouts/slideLayout6.xml" Id="R8122345e9aee48d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a5fa7376469472d"/>
    <p:sldLayoutId xmlns:r="http://schemas.openxmlformats.org/officeDocument/2006/relationships" id="2147483650" r:id="R973db7f6510745ca"/>
    <p:sldLayoutId xmlns:r="http://schemas.openxmlformats.org/officeDocument/2006/relationships" id="2147483651" r:id="Rc2a968a3bce94111"/>
    <p:sldLayoutId xmlns:r="http://schemas.openxmlformats.org/officeDocument/2006/relationships" id="2147483652" r:id="R9724681809124d67"/>
    <p:sldLayoutId xmlns:r="http://schemas.openxmlformats.org/officeDocument/2006/relationships" id="2147483653" r:id="R24ae40d6b56145de"/>
    <p:sldLayoutId xmlns:r="http://schemas.openxmlformats.org/officeDocument/2006/relationships" id="2147483654" r:id="R8122345e9aee48d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d28eda217bd42cc" /><Relationship Type="http://schemas.openxmlformats.org/officeDocument/2006/relationships/notesSlide" Target="/ppt/notesSlides/notesSlide1.xml" Id="R9e2d3fce696e4b2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6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5510D3DE-A63B-4B26-95B9-74A7E8A084EE}"/>
              </a:ext>
            </a:extLst>
          </p:cNvPr>
          <p:cNvCxnSpPr>
            <a:stCxn xmlns:a="http://schemas.openxmlformats.org/drawingml/2006/main" id="41" idx="3"/>
            <a:endCxn xmlns:a="http://schemas.openxmlformats.org/drawingml/2006/main" id="32" idx="2"/>
          </p:cNvCxnSpPr>
          <p:nvPr/>
        </p:nvCxnSpPr>
        <p:spPr>
          <a:xfrm xmlns:a="http://schemas.openxmlformats.org/drawingml/2006/main" flipH="1" flipV="1">
            <a:off x="10558463" y="4619625"/>
            <a:ext cx="433388" cy="928688"/>
          </a:xfrm>
          <a:prstGeom xmlns:a="http://schemas.openxmlformats.org/drawingml/2006/main" prst="bentConnector4">
            <a:avLst/>
          </a:prstGeom>
          <a:ln xmlns:a="http://schemas.openxmlformats.org/drawingml/2006/main" w="23813">
            <a:solidFill>
              <a:srgbClr val="C38A16"/>
            </a:solidFill>
            <a:prstDash val="solid"/>
            <a:tailEnd type="arrow" w="med" len="med"/>
          </a:ln>
        </p:spPr>
      </p:cxnSp>
      <p:cxnSp>
        <p:nvCxn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25680112-A7C5-47B4-BA7F-656F288AFB97}"/>
              </a:ext>
            </a:extLst>
          </p:cNvPr>
          <p:cNvCxnSpPr>
            <a:stCxn xmlns:a="http://schemas.openxmlformats.org/drawingml/2006/main" id="29" idx="2"/>
            <a:endCxn xmlns:a="http://schemas.openxmlformats.org/drawingml/2006/main" id="41" idx="0"/>
          </p:cNvCxnSpPr>
          <p:nvPr/>
        </p:nvCxnSpPr>
        <p:spPr>
          <a:xfrm xmlns:a="http://schemas.openxmlformats.org/drawingml/2006/main">
            <a:off x="7620000" y="4772025"/>
            <a:ext cx="1262063" cy="5143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23813">
            <a:solidFill>
              <a:srgbClr val="C38A16"/>
            </a:solidFill>
            <a:prstDash val="solid"/>
            <a:tailEnd type="arrow" w="med" len="med"/>
          </a:ln>
        </p:spPr>
      </p:cxnSp>
      <p:cxnSp>
        <p:nvCxn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8E2673BD-7A77-4A72-AB7F-EA2C5DF52A92}"/>
              </a:ext>
            </a:extLst>
          </p:cNvPr>
          <p:cNvCxnSpPr>
            <a:stCxn xmlns:a="http://schemas.openxmlformats.org/drawingml/2006/main" id="26" idx="3"/>
            <a:endCxn xmlns:a="http://schemas.openxmlformats.org/drawingml/2006/main" id="32" idx="1"/>
          </p:cNvCxnSpPr>
          <p:nvPr/>
        </p:nvCxnSpPr>
        <p:spPr>
          <a:xfrm xmlns:a="http://schemas.openxmlformats.org/drawingml/2006/main" flipV="1">
            <a:off x="8839200" y="3190875"/>
            <a:ext cx="638175" cy="300038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4E7D78"/>
            </a:solidFill>
            <a:prstDash val="solid"/>
            <a:tailEnd type="arrow" w="med" len="med"/>
          </a:ln>
        </p:spPr>
      </p:cxnSp>
      <p:cxnSp>
        <p:nvCxn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C24F76A-41C0-4D3B-B5A9-2D535FB01C86}"/>
              </a:ext>
            </a:extLst>
          </p:cNvPr>
          <p:cNvCxnSpPr>
            <a:stCxn xmlns:a="http://schemas.openxmlformats.org/drawingml/2006/main" id="8" idx="3"/>
            <a:endCxn xmlns:a="http://schemas.openxmlformats.org/drawingml/2006/main" id="20" idx="1"/>
          </p:cNvCxnSpPr>
          <p:nvPr/>
        </p:nvCxnSpPr>
        <p:spPr>
          <a:xfrm xmlns:a="http://schemas.openxmlformats.org/drawingml/2006/main">
            <a:off x="5762625" y="3190875"/>
            <a:ext cx="428625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4E7D78"/>
            </a:solidFill>
            <a:prstDash val="solid"/>
            <a:tailEnd type="arrow" w="med" len="med"/>
          </a:ln>
        </p:spPr>
      </p:cxnSp>
      <p:cxnSp>
        <p:nvCxn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DAD456D-1288-4F9B-A50E-E093C5E7AE9C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2505075" y="3190875"/>
            <a:ext cx="40005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3B7FA0"/>
            </a:solidFill>
            <a:prstDash val="solid"/>
            <a:tailEnd type="arrow" w="med" len="med"/>
          </a:ln>
        </p:spPr>
      </p:cxn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2614913C-367B-4C92-B587-0F411D2B7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7334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700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CashPilot Agent 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601AD3-CE31-4C90-A133-6FE82F677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3820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350" b="0">
                <a:solidFill>
                  <a:srgbClr val="52647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52647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472"/>
                </a:solidFill>
                <a:latin typeface="Arial"/>
                <a:ea typeface="Arial"/>
                <a:cs typeface="Arial"/>
              </a:rPr>
              <a:t>One embedded agent with three execution paths and a hard approval boundary for writes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6E3F96-1B24-463D-B28E-6F71C4F0A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5720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r">
              <a:defRPr sz="900" b="1">
                <a:solidFill>
                  <a:srgbClr val="207C7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00" b="1">
                <a:solidFill>
                  <a:srgbClr val="207C73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07C73"/>
                </a:solidFill>
                <a:latin typeface="Arial"/>
                <a:ea typeface="Arial"/>
                <a:cs typeface="Arial"/>
              </a:rPr>
              <a:t>CURRENT IMPLEMENTATION</a:t>
            </a:r>
          </a:p>
        </p:txBody>
      </p:sp>
      <p:sp>
        <p:nvSpPr>
          <p:cNvPr id="4" name="React agent panel">
            <a:extLst xmlns:a="http://schemas.openxmlformats.org/drawingml/2006/main">
              <a:ext uri="{FF2B5EF4-FFF2-40B4-BE49-F238E27FC236}">
                <a16:creationId xmlns:a16="http://schemas.microsoft.com/office/drawing/2014/main" id="{31F23295-0D2B-440B-8EDA-7CB65E7B0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62125"/>
            <a:ext cx="1952625" cy="2857500"/>
          </a:xfrm>
          <a:prstGeom xmlns:a="http://schemas.openxmlformats.org/drawingml/2006/main" prst="roundRect">
            <a:avLst>
              <a:gd name="adj" fmla="val 10732"/>
            </a:avLst>
          </a:prstGeom>
          <a:solidFill xmlns:a="http://schemas.openxmlformats.org/drawingml/2006/main">
            <a:srgbClr val="E3F1FA"/>
          </a:solidFill>
          <a:ln xmlns:a="http://schemas.openxmlformats.org/drawingml/2006/main" w="14288">
            <a:solidFill>
              <a:srgbClr val="87B7D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A8FE90-1A75-4978-9641-8C917CAA4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52625"/>
            <a:ext cx="1571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825" b="1">
                <a:solidFill>
                  <a:srgbClr val="25729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825" b="1">
                <a:solidFill>
                  <a:srgbClr val="257298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257298"/>
                </a:solidFill>
                <a:latin typeface="Arial"/>
                <a:ea typeface="Arial"/>
                <a:cs typeface="Arial"/>
              </a:rPr>
              <a:t>USER EXPERIENCE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DDE6FD-5EC2-47BE-AA80-3F021CCFB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66950"/>
            <a:ext cx="1571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800" b="1">
                <a:solidFill>
                  <a:srgbClr val="1236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12364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2364B"/>
                </a:solidFill>
                <a:latin typeface="Arial"/>
                <a:ea typeface="Arial"/>
                <a:cs typeface="Arial"/>
              </a:rPr>
              <a:t>React agent panel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4BEC8D-6449-452D-8708-E8064F08A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05125"/>
            <a:ext cx="1571625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125" b="0">
                <a:solidFill>
                  <a:srgbClr val="31596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31596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1596F"/>
                </a:solidFill>
                <a:latin typeface="Arial"/>
                <a:ea typeface="Arial"/>
                <a:cs typeface="Arial"/>
              </a:rPr>
              <a:t>Sends</a:t>
            </a:r>
          </a:p>
          <a:p xmlns:a="http://schemas.openxmlformats.org/drawingml/2006/main">
            <a:pPr algn="l">
              <a:defRPr sz="1125" b="0">
                <a:solidFill>
                  <a:srgbClr val="31596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1596F"/>
                </a:solidFill>
                <a:latin typeface="Arial"/>
                <a:ea typeface="Arial"/>
                <a:cs typeface="Arial"/>
              </a:rPr>
              <a:t>• user message</a:t>
            </a:r>
          </a:p>
          <a:p xmlns:a="http://schemas.openxmlformats.org/drawingml/2006/main">
            <a:pPr algn="l">
              <a:defRPr sz="1125" b="0">
                <a:solidFill>
                  <a:srgbClr val="31596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1596F"/>
                </a:solidFill>
                <a:latin typeface="Arial"/>
                <a:ea typeface="Arial"/>
                <a:cs typeface="Arial"/>
              </a:rPr>
              <a:t>• current page + filters</a:t>
            </a:r>
          </a:p>
          <a:p xmlns:a="http://schemas.openxmlformats.org/drawingml/2006/main">
            <a:pPr algn="l">
              <a:defRPr sz="1125" b="0">
                <a:solidFill>
                  <a:srgbClr val="31596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1596F"/>
                </a:solidFill>
                <a:latin typeface="Arial"/>
                <a:ea typeface="Arial"/>
                <a:cs typeface="Arial"/>
              </a:rPr>
              <a:t>• last 6 messages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 b="0">
                <a:solidFill>
                  <a:srgbClr val="31596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1596F"/>
                </a:solidFill>
                <a:latin typeface="Arial"/>
                <a:ea typeface="Arial"/>
                <a:cs typeface="Arial"/>
              </a:rPr>
              <a:t>Receives</a:t>
            </a:r>
          </a:p>
          <a:p xmlns:a="http://schemas.openxmlformats.org/drawingml/2006/main">
            <a:pPr algn="l">
              <a:defRPr sz="1125" b="0">
                <a:solidFill>
                  <a:srgbClr val="31596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1596F"/>
                </a:solidFill>
                <a:latin typeface="Arial"/>
                <a:ea typeface="Arial"/>
                <a:cs typeface="Arial"/>
              </a:rPr>
              <a:t>• answer + evidence</a:t>
            </a:r>
          </a:p>
          <a:p xmlns:a="http://schemas.openxmlformats.org/drawingml/2006/main">
            <a:pPr algn="l">
              <a:defRPr sz="1125" b="0">
                <a:solidFill>
                  <a:srgbClr val="31596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1596F"/>
                </a:solidFill>
                <a:latin typeface="Arial"/>
                <a:ea typeface="Arial"/>
                <a:cs typeface="Arial"/>
              </a:rPr>
              <a:t>• UI command + trace</a:t>
            </a:r>
          </a:p>
        </p:txBody>
      </p:sp>
      <p:sp>
        <p:nvSpPr>
          <p:cNvPr id="8" name="Agent runtime">
            <a:extLst xmlns:a="http://schemas.openxmlformats.org/drawingml/2006/main">
              <a:ext uri="{FF2B5EF4-FFF2-40B4-BE49-F238E27FC236}">
                <a16:creationId xmlns:a16="http://schemas.microsoft.com/office/drawing/2014/main" id="{AC8076AE-BC36-49CA-9895-953CB339B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1381125"/>
            <a:ext cx="2857500" cy="3619500"/>
          </a:xfrm>
          <a:prstGeom xmlns:a="http://schemas.openxmlformats.org/drawingml/2006/main" prst="roundRect">
            <a:avLst>
              <a:gd name="adj" fmla="val 7333"/>
            </a:avLst>
          </a:prstGeom>
          <a:solidFill xmlns:a="http://schemas.openxmlformats.org/drawingml/2006/main">
            <a:srgbClr val="102A3A"/>
          </a:solidFill>
          <a:ln xmlns:a="http://schemas.openxmlformats.org/drawingml/2006/main" w="14288">
            <a:solidFill>
              <a:srgbClr val="102A3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DEDC983-D31F-464F-9363-9DC7A4409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1562100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825" b="1">
                <a:solidFill>
                  <a:srgbClr val="74D2C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825" b="1">
                <a:solidFill>
                  <a:srgbClr val="74D2C4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74D2C4"/>
                </a:solidFill>
                <a:latin typeface="Arial"/>
                <a:ea typeface="Arial"/>
                <a:cs typeface="Arial"/>
              </a:rPr>
              <a:t>ORCHESTRATION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1E6E4D5-1FBF-481B-9CCA-C05248E9B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1819275"/>
            <a:ext cx="238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Express agent runtime</a:t>
            </a:r>
          </a:p>
        </p:txBody>
      </p:sp>
      <p:sp>
        <p:nvSpPr>
          <p:cNvPr id="11" name="1  Direct resolver">
            <a:extLst xmlns:a="http://schemas.openxmlformats.org/drawingml/2006/main">
              <a:ext uri="{FF2B5EF4-FFF2-40B4-BE49-F238E27FC236}">
                <a16:creationId xmlns:a16="http://schemas.microsoft.com/office/drawing/2014/main" id="{6B31D354-E53D-4F4E-8C8A-B805DD9EF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2295525"/>
            <a:ext cx="2438400" cy="714375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1D4559"/>
          </a:solidFill>
          <a:ln xmlns:a="http://schemas.openxmlformats.org/drawingml/2006/main" w="14288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D6F091A-850E-4318-9006-8E3F64187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8025" y="2400300"/>
            <a:ext cx="2171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  Direct resolver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98A0678-4BEC-4936-9438-92714C6C5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8025" y="2667000"/>
            <a:ext cx="2171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013" b="0">
                <a:solidFill>
                  <a:srgbClr val="BDD4D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13" b="0">
                <a:solidFill>
                  <a:srgbClr val="BDD4DF"/>
                </a:solidFill>
                <a:latin typeface="Arial"/>
                <a:ea typeface="Arial"/>
                <a:cs typeface="Arial"/>
              </a:defRPr>
            </a:pPr>
            <a:r>
              <a:rPr sz="1013" b="0">
                <a:solidFill>
                  <a:srgbClr val="BDD4DF"/>
                </a:solidFill>
                <a:latin typeface="Arial"/>
                <a:ea typeface="Arial"/>
                <a:cs typeface="Arial"/>
              </a:rPr>
              <a:t>Navigation and URL filters. No model call.</a:t>
            </a:r>
          </a:p>
        </p:txBody>
      </p:sp>
      <p:sp>
        <p:nvSpPr>
          <p:cNvPr id="14" name="2  Local fallback">
            <a:extLst xmlns:a="http://schemas.openxmlformats.org/drawingml/2006/main">
              <a:ext uri="{FF2B5EF4-FFF2-40B4-BE49-F238E27FC236}">
                <a16:creationId xmlns:a16="http://schemas.microsoft.com/office/drawing/2014/main" id="{7DB9149F-330B-4880-BB82-EA59D6C70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3133725"/>
            <a:ext cx="2438400" cy="714375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1D4559"/>
          </a:solidFill>
          <a:ln xmlns:a="http://schemas.openxmlformats.org/drawingml/2006/main" w="14288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75CDFC5-AF5B-4FCA-ABB9-53A672722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8025" y="3238500"/>
            <a:ext cx="2171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  Local fallback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28C1750-05A2-4E13-8EFC-10106B438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8025" y="3505200"/>
            <a:ext cx="2171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013" b="0">
                <a:solidFill>
                  <a:srgbClr val="BDD4D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13" b="0">
                <a:solidFill>
                  <a:srgbClr val="BDD4DF"/>
                </a:solidFill>
                <a:latin typeface="Arial"/>
                <a:ea typeface="Arial"/>
                <a:cs typeface="Arial"/>
              </a:defRPr>
            </a:pPr>
            <a:r>
              <a:rPr sz="1013" b="0">
                <a:solidFill>
                  <a:srgbClr val="BDD4DF"/>
                </a:solidFill>
                <a:latin typeface="Arial"/>
                <a:ea typeface="Arial"/>
                <a:cs typeface="Arial"/>
              </a:rPr>
              <a:t>Live reads when OpenRouter is unavailable.</a:t>
            </a:r>
          </a:p>
        </p:txBody>
      </p:sp>
      <p:sp>
        <p:nvSpPr>
          <p:cNvPr id="17" name="3  LangGraph workflow">
            <a:extLst xmlns:a="http://schemas.openxmlformats.org/drawingml/2006/main">
              <a:ext uri="{FF2B5EF4-FFF2-40B4-BE49-F238E27FC236}">
                <a16:creationId xmlns:a16="http://schemas.microsoft.com/office/drawing/2014/main" id="{7B758C78-029A-4BA7-AADF-DCFA9C457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3971925"/>
            <a:ext cx="2438400" cy="8001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176B66"/>
          </a:solidFill>
          <a:ln xmlns:a="http://schemas.openxmlformats.org/drawingml/2006/main" w="14288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5F336E9-9E99-4F3D-962D-E67BA4A89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8025" y="4076700"/>
            <a:ext cx="2171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  LangGraph workflow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6C9D02F-2B34-4C89-8117-C3030B139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8025" y="4343400"/>
            <a:ext cx="2171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013" b="0">
                <a:solidFill>
                  <a:srgbClr val="D2F3E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13" b="0">
                <a:solidFill>
                  <a:srgbClr val="D2F3EC"/>
                </a:solidFill>
                <a:latin typeface="Arial"/>
                <a:ea typeface="Arial"/>
                <a:cs typeface="Arial"/>
              </a:defRPr>
            </a:pPr>
            <a:r>
              <a:rPr sz="1013" b="0">
                <a:solidFill>
                  <a:srgbClr val="D2F3EC"/>
                </a:solidFill>
                <a:latin typeface="Arial"/>
                <a:ea typeface="Arial"/>
                <a:cs typeface="Arial"/>
              </a:rPr>
              <a:t>OpenRouter planning and bounded tool loop. Maximum 5 turns.</a:t>
            </a:r>
          </a:p>
        </p:txBody>
      </p:sp>
      <p:sp>
        <p:nvSpPr>
          <p:cNvPr id="20" name="Typed capabilities">
            <a:extLst xmlns:a="http://schemas.openxmlformats.org/drawingml/2006/main">
              <a:ext uri="{FF2B5EF4-FFF2-40B4-BE49-F238E27FC236}">
                <a16:creationId xmlns:a16="http://schemas.microsoft.com/office/drawing/2014/main" id="{E2C4FD11-FCE9-4CE9-AF9E-5D26A1952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381125"/>
            <a:ext cx="2857500" cy="3619500"/>
          </a:xfrm>
          <a:prstGeom xmlns:a="http://schemas.openxmlformats.org/drawingml/2006/main" prst="roundRect">
            <a:avLst>
              <a:gd name="adj" fmla="val 7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ED8DE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D7F7319-EAA8-4C0D-B50A-D0442AAC4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56210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825" b="1">
                <a:solidFill>
                  <a:srgbClr val="5B4DA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825" b="1">
                <a:solidFill>
                  <a:srgbClr val="5B4DA4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B4DA4"/>
                </a:solidFill>
                <a:latin typeface="Arial"/>
                <a:ea typeface="Arial"/>
                <a:cs typeface="Arial"/>
              </a:rPr>
              <a:t>TYPED CAPABILITIES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D6FB175-2428-49DC-8DB4-6FEDA52E2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819275"/>
            <a:ext cx="238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650" b="1">
                <a:solidFill>
                  <a:srgbClr val="1F274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F274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F2740"/>
                </a:solidFill>
                <a:latin typeface="Arial"/>
                <a:ea typeface="Arial"/>
                <a:cs typeface="Arial"/>
              </a:rPr>
              <a:t>Role-scoped tools</a:t>
            </a:r>
          </a:p>
        </p:txBody>
      </p:sp>
      <p:sp>
        <p:nvSpPr>
          <p:cNvPr id="23" name="UI tools">
            <a:extLst xmlns:a="http://schemas.openxmlformats.org/drawingml/2006/main">
              <a:ext uri="{FF2B5EF4-FFF2-40B4-BE49-F238E27FC236}">
                <a16:creationId xmlns:a16="http://schemas.microsoft.com/office/drawing/2014/main" id="{0B937198-E361-48F7-A23A-6D31746D2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295525"/>
            <a:ext cx="2438400" cy="714375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EEEAF9"/>
          </a:solidFill>
          <a:ln xmlns:a="http://schemas.openxmlformats.org/drawingml/2006/main" w="14288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2097195-9694-45EC-92B0-CCD4D08B0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400300"/>
            <a:ext cx="2171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275" b="1">
                <a:solidFill>
                  <a:srgbClr val="463B8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463B86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463B86"/>
                </a:solidFill>
                <a:latin typeface="Arial"/>
                <a:ea typeface="Arial"/>
                <a:cs typeface="Arial"/>
              </a:rPr>
              <a:t>UI tools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C04648E-D981-4003-A9BA-42ABF8D20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667000"/>
            <a:ext cx="2171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013" b="0">
                <a:solidFill>
                  <a:srgbClr val="665B9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13" b="0">
                <a:solidFill>
                  <a:srgbClr val="665B91"/>
                </a:solidFill>
                <a:latin typeface="Arial"/>
                <a:ea typeface="Arial"/>
                <a:cs typeface="Arial"/>
              </a:defRPr>
            </a:pPr>
            <a:r>
              <a:rPr sz="1013" b="0">
                <a:solidFill>
                  <a:srgbClr val="665B91"/>
                </a:solidFill>
                <a:latin typeface="Arial"/>
                <a:ea typeface="Arial"/>
                <a:cs typeface="Arial"/>
              </a:rPr>
              <a:t>open_ui and prefill_ui</a:t>
            </a:r>
          </a:p>
        </p:txBody>
      </p:sp>
      <p:sp>
        <p:nvSpPr>
          <p:cNvPr id="26" name="Read + analysis tools">
            <a:extLst xmlns:a="http://schemas.openxmlformats.org/drawingml/2006/main">
              <a:ext uri="{FF2B5EF4-FFF2-40B4-BE49-F238E27FC236}">
                <a16:creationId xmlns:a16="http://schemas.microsoft.com/office/drawing/2014/main" id="{26126710-6637-47F0-A5D8-836042486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133725"/>
            <a:ext cx="2438400" cy="714375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E5F4EF"/>
          </a:solidFill>
          <a:ln xmlns:a="http://schemas.openxmlformats.org/drawingml/2006/main" w="14288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4CA6D2F-B784-470E-BB14-1668C1B03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238500"/>
            <a:ext cx="2171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275" b="1">
                <a:solidFill>
                  <a:srgbClr val="176B6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176B66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6B66"/>
                </a:solidFill>
                <a:latin typeface="Arial"/>
                <a:ea typeface="Arial"/>
                <a:cs typeface="Arial"/>
              </a:rPr>
              <a:t>Read + analysis tools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741797C-75F7-451F-A514-EC18932DF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505200"/>
            <a:ext cx="2171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013" b="0">
                <a:solidFill>
                  <a:srgbClr val="3F716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13" b="0">
                <a:solidFill>
                  <a:srgbClr val="3F716C"/>
                </a:solidFill>
                <a:latin typeface="Arial"/>
                <a:ea typeface="Arial"/>
                <a:cs typeface="Arial"/>
              </a:defRPr>
            </a:pPr>
            <a:r>
              <a:rPr sz="1013" b="0">
                <a:solidFill>
                  <a:srgbClr val="3F716C"/>
                </a:solidFill>
                <a:latin typeface="Arial"/>
                <a:ea typeface="Arial"/>
                <a:cs typeface="Arial"/>
              </a:rPr>
              <a:t>Scoped SQL, deterministic calculations and evidence.</a:t>
            </a:r>
          </a:p>
        </p:txBody>
      </p:sp>
      <p:sp>
        <p:nvSpPr>
          <p:cNvPr id="29" name="Write tools">
            <a:extLst xmlns:a="http://schemas.openxmlformats.org/drawingml/2006/main">
              <a:ext uri="{FF2B5EF4-FFF2-40B4-BE49-F238E27FC236}">
                <a16:creationId xmlns:a16="http://schemas.microsoft.com/office/drawing/2014/main" id="{9F20E66E-2CFC-4C23-9F75-BBA03CF74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971925"/>
            <a:ext cx="2438400" cy="8001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2D9"/>
          </a:solidFill>
          <a:ln xmlns:a="http://schemas.openxmlformats.org/drawingml/2006/main" w="14288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F40F627-955F-4FDE-BC3B-25CC7D873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076700"/>
            <a:ext cx="2171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275" b="1">
                <a:solidFill>
                  <a:srgbClr val="8B5B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8B5B0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8B5B00"/>
                </a:solidFill>
                <a:latin typeface="Arial"/>
                <a:ea typeface="Arial"/>
                <a:cs typeface="Arial"/>
              </a:rPr>
              <a:t>Write tools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2F28903-40A7-4530-8C5F-189392991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343400"/>
            <a:ext cx="2171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013" b="0">
                <a:solidFill>
                  <a:srgbClr val="7A623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13" b="0">
                <a:solidFill>
                  <a:srgbClr val="7A6234"/>
                </a:solidFill>
                <a:latin typeface="Arial"/>
                <a:ea typeface="Arial"/>
                <a:cs typeface="Arial"/>
              </a:defRPr>
            </a:pPr>
            <a:r>
              <a:rPr sz="1013" b="0">
                <a:solidFill>
                  <a:srgbClr val="7A6234"/>
                </a:solidFill>
                <a:latin typeface="Arial"/>
                <a:ea typeface="Arial"/>
                <a:cs typeface="Arial"/>
              </a:rPr>
              <a:t>Validate input and create a pending action. Never execute directly.</a:t>
            </a:r>
          </a:p>
        </p:txBody>
      </p:sp>
      <p:sp>
        <p:nvSpPr>
          <p:cNvPr id="32" name="Trusted business layer">
            <a:extLst xmlns:a="http://schemas.openxmlformats.org/drawingml/2006/main">
              <a:ext uri="{FF2B5EF4-FFF2-40B4-BE49-F238E27FC236}">
                <a16:creationId xmlns:a16="http://schemas.microsoft.com/office/drawing/2014/main" id="{A7EE1F77-48FD-4B05-89DC-DDFEA9E95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1762125"/>
            <a:ext cx="2162175" cy="2857500"/>
          </a:xfrm>
          <a:prstGeom xmlns:a="http://schemas.openxmlformats.org/drawingml/2006/main" prst="roundRect">
            <a:avLst>
              <a:gd name="adj" fmla="val 9692"/>
            </a:avLst>
          </a:prstGeom>
          <a:solidFill xmlns:a="http://schemas.openxmlformats.org/drawingml/2006/main">
            <a:srgbClr val="EAF0F2"/>
          </a:solidFill>
          <a:ln xmlns:a="http://schemas.openxmlformats.org/drawingml/2006/main" w="14288">
            <a:solidFill>
              <a:srgbClr val="B7C6CC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6664E7A-86A6-4CB6-A181-731139F85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6925" y="1952625"/>
            <a:ext cx="1733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788" b="1">
                <a:solidFill>
                  <a:srgbClr val="586E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788" b="1">
                <a:solidFill>
                  <a:srgbClr val="586E77"/>
                </a:solidFill>
                <a:latin typeface="Arial"/>
                <a:ea typeface="Arial"/>
                <a:cs typeface="Arial"/>
              </a:defRPr>
            </a:pPr>
            <a:r>
              <a:rPr sz="788" b="1">
                <a:solidFill>
                  <a:srgbClr val="586E77"/>
                </a:solidFill>
                <a:latin typeface="Arial"/>
                <a:ea typeface="Arial"/>
                <a:cs typeface="Arial"/>
              </a:rPr>
              <a:t>TRUSTED BUSINESS LAYER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EEA6AAF-A0CD-462C-953B-930365C00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6925" y="2266950"/>
            <a:ext cx="1733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650" b="1">
                <a:solidFill>
                  <a:srgbClr val="17323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7323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323D"/>
                </a:solidFill>
                <a:latin typeface="Arial"/>
                <a:ea typeface="Arial"/>
                <a:cs typeface="Arial"/>
              </a:rPr>
              <a:t>Finance services</a:t>
            </a:r>
          </a:p>
        </p:txBody>
      </p:sp>
      <p:sp>
        <p:nvSpPr>
          <p:cNvPr id="35" name="Domain rules">
            <a:extLst xmlns:a="http://schemas.openxmlformats.org/drawingml/2006/main">
              <a:ext uri="{FF2B5EF4-FFF2-40B4-BE49-F238E27FC236}">
                <a16:creationId xmlns:a16="http://schemas.microsoft.com/office/drawing/2014/main" id="{0E680146-D902-4BB5-AABE-AFF641961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6925" y="2724150"/>
            <a:ext cx="173355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78B1D88-0426-4AD9-AFDC-FBCFCF916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0275" y="2828925"/>
            <a:ext cx="1466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275" b="1">
                <a:solidFill>
                  <a:srgbClr val="17323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17323D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323D"/>
                </a:solidFill>
                <a:latin typeface="Arial"/>
                <a:ea typeface="Arial"/>
                <a:cs typeface="Arial"/>
              </a:rPr>
              <a:t>Domain rules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9F7A5C7-E42F-402C-8DC5-4C45DB080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0275" y="3095625"/>
            <a:ext cx="1466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013" b="0">
                <a:solidFill>
                  <a:srgbClr val="586E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13" b="0">
                <a:solidFill>
                  <a:srgbClr val="586E77"/>
                </a:solidFill>
                <a:latin typeface="Arial"/>
                <a:ea typeface="Arial"/>
                <a:cs typeface="Arial"/>
              </a:defRPr>
            </a:pPr>
            <a:r>
              <a:rPr sz="1013" b="0">
                <a:solidFill>
                  <a:srgbClr val="586E77"/>
                </a:solidFill>
                <a:latin typeface="Arial"/>
                <a:ea typeface="Arial"/>
                <a:cs typeface="Arial"/>
              </a:rPr>
              <a:t>Tenant scope, permissions and transactions</a:t>
            </a:r>
          </a:p>
        </p:txBody>
      </p:sp>
      <p:sp>
        <p:nvSpPr>
          <p:cNvPr id="38" name="PostgreSQL">
            <a:extLst xmlns:a="http://schemas.openxmlformats.org/drawingml/2006/main">
              <a:ext uri="{FF2B5EF4-FFF2-40B4-BE49-F238E27FC236}">
                <a16:creationId xmlns:a16="http://schemas.microsoft.com/office/drawing/2014/main" id="{D124D042-1F03-48FE-9F36-86800029C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6925" y="3600450"/>
            <a:ext cx="1733550" cy="762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DDE8EB"/>
          </a:solidFill>
          <a:ln xmlns:a="http://schemas.openxmlformats.org/drawingml/2006/main" w="14288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C30A891-3C1C-4A25-93F1-AE7F67764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0275" y="3705225"/>
            <a:ext cx="1466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275" b="1">
                <a:solidFill>
                  <a:srgbClr val="17323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17323D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323D"/>
                </a:solidFill>
                <a:latin typeface="Arial"/>
                <a:ea typeface="Arial"/>
                <a:cs typeface="Arial"/>
              </a:rPr>
              <a:t>PostgreSQL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300E542-8F15-4D6E-8863-07BEA13AE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0275" y="3971925"/>
            <a:ext cx="14668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013" b="0">
                <a:solidFill>
                  <a:srgbClr val="586E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13" b="0">
                <a:solidFill>
                  <a:srgbClr val="586E77"/>
                </a:solidFill>
                <a:latin typeface="Arial"/>
                <a:ea typeface="Arial"/>
                <a:cs typeface="Arial"/>
              </a:defRPr>
            </a:pPr>
            <a:r>
              <a:rPr sz="1013" b="0">
                <a:solidFill>
                  <a:srgbClr val="586E77"/>
                </a:solidFill>
                <a:latin typeface="Arial"/>
                <a:ea typeface="Arial"/>
                <a:cs typeface="Arial"/>
              </a:rPr>
              <a:t>Business data, runs, evidence, audit and graph checkpoints</a:t>
            </a:r>
          </a:p>
        </p:txBody>
      </p:sp>
      <p:sp>
        <p:nvSpPr>
          <p:cNvPr id="41" name="Human confirmation">
            <a:extLst xmlns:a="http://schemas.openxmlformats.org/drawingml/2006/main">
              <a:ext uri="{FF2B5EF4-FFF2-40B4-BE49-F238E27FC236}">
                <a16:creationId xmlns:a16="http://schemas.microsoft.com/office/drawing/2014/main" id="{DD3D25D2-8B2B-49E0-A70D-C3FFD25C4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5286375"/>
            <a:ext cx="3762375" cy="523875"/>
          </a:xfrm>
          <a:prstGeom xmlns:a="http://schemas.openxmlformats.org/drawingml/2006/main" prst="roundRect">
            <a:avLst>
              <a:gd name="adj" fmla="val 32727"/>
            </a:avLst>
          </a:prstGeom>
          <a:solidFill xmlns:a="http://schemas.openxmlformats.org/drawingml/2006/main">
            <a:srgbClr val="F6C453"/>
          </a:solidFill>
          <a:ln xmlns:a="http://schemas.openxmlformats.org/drawingml/2006/main" w="14288">
            <a:solidFill>
              <a:srgbClr val="DDA52D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F3D1D3E-D60E-427D-A11B-B2649285C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425" y="5391150"/>
            <a:ext cx="190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125" b="1">
                <a:solidFill>
                  <a:srgbClr val="4A34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4A340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4A3400"/>
                </a:solidFill>
                <a:latin typeface="Arial"/>
                <a:ea typeface="Arial"/>
                <a:cs typeface="Arial"/>
              </a:rPr>
              <a:t>HUMAN CONFIRMATION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02F2313-245A-47B0-A865-C32E7E96B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5400675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r">
              <a:defRPr sz="1013" b="0">
                <a:solidFill>
                  <a:srgbClr val="5E460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013" b="0">
                <a:solidFill>
                  <a:srgbClr val="5E460C"/>
                </a:solidFill>
                <a:latin typeface="Arial"/>
                <a:ea typeface="Arial"/>
                <a:cs typeface="Arial"/>
              </a:defRPr>
            </a:pPr>
            <a:r>
              <a:rPr sz="1013" b="0">
                <a:solidFill>
                  <a:srgbClr val="5E460C"/>
                </a:solidFill>
                <a:latin typeface="Arial"/>
                <a:ea typeface="Arial"/>
                <a:cs typeface="Arial"/>
              </a:rPr>
              <a:t>Approve or reject every financial write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A5FE0A63-8410-41A3-A71B-503C81C4E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15050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ED6D8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8AB1D1F3-3230-4325-9DCA-9DE7365CE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67450"/>
            <a:ext cx="1000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825" b="1">
                <a:solidFill>
                  <a:srgbClr val="64757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825" b="1">
                <a:solidFill>
                  <a:srgbClr val="64757D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4757D"/>
                </a:solidFill>
                <a:latin typeface="Arial"/>
                <a:ea typeface="Arial"/>
                <a:cs typeface="Arial"/>
              </a:rPr>
              <a:t>GUARDRAILS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74E1A490-BAEE-4A2C-A898-A3E8BDF15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62865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7C73"/>
          </a:solidFill>
          <a:ln xmlns:a="http://schemas.openxmlformats.org/drawingml/2006/main" w="0">
            <a:solidFill>
              <a:srgbClr val="207C73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E5F3691C-615D-4621-9569-4CA4B574E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6229350"/>
            <a:ext cx="2238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013" b="0">
                <a:solidFill>
                  <a:srgbClr val="40545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13" b="0">
                <a:solidFill>
                  <a:srgbClr val="40545E"/>
                </a:solidFill>
                <a:latin typeface="Arial"/>
                <a:ea typeface="Arial"/>
                <a:cs typeface="Arial"/>
              </a:defRPr>
            </a:pPr>
            <a:r>
              <a:rPr sz="1013" b="0">
                <a:solidFill>
                  <a:srgbClr val="40545E"/>
                </a:solidFill>
                <a:latin typeface="Arial"/>
                <a:ea typeface="Arial"/>
                <a:cs typeface="Arial"/>
              </a:rPr>
              <a:t>Authenticated actor + tenant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5A4909E8-849D-4EBC-ADE0-E2E911EBE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62865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7C73"/>
          </a:solidFill>
          <a:ln xmlns:a="http://schemas.openxmlformats.org/drawingml/2006/main" w="0">
            <a:solidFill>
              <a:srgbClr val="207C73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0467C869-E57A-4126-9820-6B45B7711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6229350"/>
            <a:ext cx="2238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013" b="0">
                <a:solidFill>
                  <a:srgbClr val="40545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13" b="0">
                <a:solidFill>
                  <a:srgbClr val="40545E"/>
                </a:solidFill>
                <a:latin typeface="Arial"/>
                <a:ea typeface="Arial"/>
                <a:cs typeface="Arial"/>
              </a:defRPr>
            </a:pPr>
            <a:r>
              <a:rPr sz="1013" b="0">
                <a:solidFill>
                  <a:srgbClr val="40545E"/>
                </a:solidFill>
                <a:latin typeface="Arial"/>
                <a:ea typeface="Arial"/>
                <a:cs typeface="Arial"/>
              </a:rPr>
              <a:t>Role-scoped tool list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B5A468DD-1AB4-421D-A2BE-11704330D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62865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7C73"/>
          </a:solidFill>
          <a:ln xmlns:a="http://schemas.openxmlformats.org/drawingml/2006/main" w="0">
            <a:solidFill>
              <a:srgbClr val="207C73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0E0C1A25-E863-4312-8E36-EDBC6649A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6229350"/>
            <a:ext cx="2238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013" b="0">
                <a:solidFill>
                  <a:srgbClr val="40545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13" b="0">
                <a:solidFill>
                  <a:srgbClr val="40545E"/>
                </a:solidFill>
                <a:latin typeface="Arial"/>
                <a:ea typeface="Arial"/>
                <a:cs typeface="Arial"/>
              </a:defRPr>
            </a:pPr>
            <a:r>
              <a:rPr sz="1013" b="0">
                <a:solidFill>
                  <a:srgbClr val="40545E"/>
                </a:solidFill>
                <a:latin typeface="Arial"/>
                <a:ea typeface="Arial"/>
                <a:cs typeface="Arial"/>
              </a:rPr>
              <a:t>Zod validation + payload hash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BB8644A0-3E44-45D2-A71A-2C8689060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62865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7C73"/>
          </a:solidFill>
          <a:ln xmlns:a="http://schemas.openxmlformats.org/drawingml/2006/main" w="0">
            <a:solidFill>
              <a:srgbClr val="207C73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0FEE530B-FE39-4B69-8361-DDC4F5D8C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6229350"/>
            <a:ext cx="2238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013" b="0">
                <a:solidFill>
                  <a:srgbClr val="40545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13" b="0">
                <a:solidFill>
                  <a:srgbClr val="40545E"/>
                </a:solidFill>
                <a:latin typeface="Arial"/>
                <a:ea typeface="Arial"/>
                <a:cs typeface="Arial"/>
              </a:defRPr>
            </a:pPr>
            <a:r>
              <a:rPr sz="1013" b="0">
                <a:solidFill>
                  <a:srgbClr val="40545E"/>
                </a:solidFill>
                <a:latin typeface="Arial"/>
                <a:ea typeface="Arial"/>
                <a:cs typeface="Arial"/>
              </a:rPr>
              <a:t>Idempotency + 8-second undo</a:t>
            </a:r>
          </a:p>
        </p:txBody>
      </p:sp>
    </p:spTree>
    <p:extLst>
      <p:ext uri="{BB962C8B-B14F-4D97-AF65-F5344CB8AC3E}">
        <p14:creationId xmlns:p14="http://schemas.microsoft.com/office/powerpoint/2010/main" val="48462690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2026-10-11T04:54:20.6690000Z</dcterms:created>
  <dcterms:modified xsi:type="dcterms:W3CDTF">2026-10-11T04:54:20.6690000Z</dcterms:modified>
</coreProperties>
</file>